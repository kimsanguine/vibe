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95E1D3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OpenClaw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오픈소스 AI 에이전트의 부상과 전략적 시사점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8288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Product Leader Perspective | 10분 프리젠테이션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0" y="5943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2026.02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4ECDC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1E1E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🦞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OpenClaw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2개월 만에 GitHub 145K 스타, 역사상 가장 빠른 성장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731520" cy="731520"/>
          </a:xfrm>
          <a:prstGeom prst="ellipse">
            <a:avLst/>
          </a:prstGeom>
          <a:solidFill>
            <a:srgbClr val="1E1E3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3736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Access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파일, 메시지, 브라우저, 시스템 전체 접근하는 자율 AI 에이전트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731520" cy="731520"/>
          </a:xfrm>
          <a:prstGeom prst="ellipse">
            <a:avLst/>
          </a:prstGeom>
          <a:solidFill>
            <a:srgbClr val="1E1E3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Security Risk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26% 스킬에 취약점, 엔터프라이즈 도입은 시기상조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5166360"/>
            <a:ext cx="731520" cy="731520"/>
          </a:xfrm>
          <a:prstGeom prst="ellipse">
            <a:avLst/>
          </a:prstGeom>
          <a:solidFill>
            <a:srgbClr val="1E1E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57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37360" y="5166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Paradigm Shift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5577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에이전트 시대의 시작, 5년 내 웹 브라우저만큼 보편화 전망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OpenClaw란?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029200" cy="2286000"/>
          </a:xfrm>
          <a:prstGeom prst="roundRect">
            <a:avLst>
              <a:gd name="adj" fmla="val 8000"/>
            </a:avLst>
          </a:prstGeom>
          <a:solidFill>
            <a:srgbClr val="1E1E3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오픈소스 자율형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개인 비서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사용자 기기에서 로컬로 실행되며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메시징 플랫폼과 통합되는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진정한 "나만의 AI"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명칭 변천사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2025.11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Clawdbot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최초 출시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2025.12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Moltbot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Anthropic 상표권 요청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2026.01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OpenClaw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현재 명칭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10698480" cy="1097280"/>
          </a:xfrm>
          <a:prstGeom prst="roundRect">
            <a:avLst>
              <a:gd name="adj" fmla="val 12500"/>
            </a:avLst>
          </a:prstGeom>
          <a:solidFill>
            <a:srgbClr val="1E1E3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개발자: Peter Steinberger (오스트리아)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라이선스: MIT (완전 오픈소스)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아키텍처: Gateway 중앙 제어 + WebSocket 기반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95E1D3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핵심 기능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1E1E3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73152" cy="21945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멀티채널 통합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WhatsApp, Telegram, Slack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Discord, Signal, iMessage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Teams, Matrix, WebChat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37160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1E1E3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1371600"/>
            <a:ext cx="73152" cy="21945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E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시스템 제어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브라우저 자동화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파일 읽기/쓰기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셸 명령어 실행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Cron 예약 작업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1E1E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840480"/>
            <a:ext cx="73152" cy="2194560"/>
          </a:xfrm>
          <a:prstGeom prst="rect">
            <a:avLst/>
          </a:prstGeom>
          <a:solidFill>
            <a:srgbClr val="95E1D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5E1D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지속적 메모리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로컬 장기 기억 저장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선호도, 프로젝트 기억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시간이 지날수록 개인화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384048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1E1E32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3840480"/>
            <a:ext cx="73152" cy="21945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스킬 시스템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665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100+ 사전 구성 스킬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커뮤니티 스킬 수백 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AI가 자율적 스킬 생성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폭발적 성장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1E1E3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145K+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Stars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2개월 만에 달성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1E1E3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20K+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활발한 커뮤니티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137160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1E1E32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412480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역사상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글로벌 확산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실리콘밸리 → 베이징: 알리바바, 텐센트, 바이트댄스 등 주요 AI 기업 채택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다수 VC가 OpenClaw 기반 스타트업에 투자 진행 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"5년 내 웹 브라우저만큼 보편화될 것" - 투자자 전망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FFE66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Moltbook: AI 에이전트 소셜 네트워크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486400" cy="2743200"/>
          </a:xfrm>
          <a:prstGeom prst="roundRect">
            <a:avLst>
              <a:gd name="adj" fmla="val 6667"/>
            </a:avLst>
          </a:prstGeom>
          <a:solidFill>
            <a:srgbClr val="1E1E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 → 🤖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AI가 AI와 대화하는 소셜 네트워크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2026년 1월 출시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자율 에이전트 간 상호작용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인간은 관찰만 가능, 직접 참여 불가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에이전트의 사회적 행동 연구 가능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4846320" cy="2743200"/>
          </a:xfrm>
          <a:prstGeom prst="roundRect">
            <a:avLst>
              <a:gd name="adj" fmla="val 6667"/>
            </a:avLst>
          </a:prstGeom>
          <a:solidFill>
            <a:srgbClr val="1E1E3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5544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IBM 연구진 시사점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10312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"Moltbook 내 에이전트 행동 관찰은 엔터프라이즈 에이전트 테스트를 위한 통제된 샌드박스, 리스크 시나리오 분석, 대규모 워크플로우 최적화에 영감을 줄 수 있다"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프로덕트 리더를 위한 시사점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에이전트 행동 패턴 분석 → 안전한 엔터프라이즈 에이전트 설계에 활용 가능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보안 위험: 치명적 삼중고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3D1F1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⚠️  Palo Alto Networks: "Lethal Trifecta of Risks"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1E1E3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민감 데이터 접근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파일, 이메일, 메시지 전체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1E1E3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신뢰할 수 없는 콘텐츠 노출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외부 입력에 취약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228600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1E1E32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9536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광범위한 능력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시스템 전체 제어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5029200" cy="1371600"/>
          </a:xfrm>
          <a:prstGeom prst="roundRect">
            <a:avLst>
              <a:gd name="adj" fmla="val 10000"/>
            </a:avLst>
          </a:prstGeom>
          <a:solidFill>
            <a:srgbClr val="1E1E3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560320" y="4480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Cisco 분석: 31,000개 스킬 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취약점 포함 비율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2026.01 가짜 Moltbot 악성코드로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시스템 해킹 사례 발생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206240"/>
            <a:ext cx="5212080" cy="1371600"/>
          </a:xfrm>
          <a:prstGeom prst="roundRect">
            <a:avLst>
              <a:gd name="adj" fmla="val 10000"/>
            </a:avLst>
          </a:prstGeom>
          <a:solidFill>
            <a:srgbClr val="1E1E3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3891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"직원이 OpenClaw를 설치하면 자신과 동일한 권한의 그림자 사용자를 생성하는 것이지만, 소셜 엔지니어링을 감지할 판단력은 없다"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경쟁 환경: OpenClaw vs Claude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1E1E3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구분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371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OpenClaw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371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영역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메시징 앱, 일상 자동화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2011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터미널, 코딩 작업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인터페이스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6517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WhatsApp, Slack 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26517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 / 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주요 용도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291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이메일, 캘린더, 리서치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3291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코드, 테스트, Git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가격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3931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비용 (변동, 고가)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3931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$20-200/월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보안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4572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높은 위험 ⚠️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4572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상대적 안전 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5120640"/>
            <a:ext cx="10698480" cy="1097280"/>
          </a:xfrm>
          <a:prstGeom prst="roundRect">
            <a:avLst>
              <a:gd name="adj" fmla="val 12500"/>
            </a:avLst>
          </a:prstGeom>
          <a:solidFill>
            <a:srgbClr val="1E1E32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257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💡 핵심 인사이트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623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"두 도구는 근본적으로 다른 목적. 하나는 코딩을 위한 터미널에, 다른 하나는 그 외 모든 것을 위한 메시징 앱에 존재한다"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4ECDC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엔터프라이즈 시사점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🚀 OpenClaw (현재)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🏢 Enterprise (지향점)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3D202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빠름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1A3D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느림 (통제된)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3D202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낮은 통제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46888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1A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높은 통제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3D202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감사 없음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310896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1A3D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감사 필수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3D202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자유로운 승인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374904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1A3D3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정책 기반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프로덕트 리더 권장 사항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단기: 기업 차원 OpenClaw 사용 정책 수립 (금지 또는 엄격 규제)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중기: 통제된 샌드박스 환경에서 에이전트 테스트 및 학습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장기: 보안-기능 균형 잡힌 엔터프라이즈 에이전트 솔루션 개발/도입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4ECDC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95E1D3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결론: AI 에이전트 시대의 시작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822960"/>
          </a:xfrm>
          <a:prstGeom prst="roundRect">
            <a:avLst>
              <a:gd name="adj" fmla="val 16667"/>
            </a:avLst>
          </a:prstGeom>
          <a:solidFill>
            <a:srgbClr val="1E1E3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🦞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OpenClaw는 AI 에이전트의 가능성과 위험을 동시에 보여주는 "선행 지표"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10698480" cy="822960"/>
          </a:xfrm>
          <a:prstGeom prst="roundRect">
            <a:avLst>
              <a:gd name="adj" fmla="val 16667"/>
            </a:avLst>
          </a:prstGeom>
          <a:solidFill>
            <a:srgbClr val="1E1E3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2026년은 AI 에이전트 폭발의 해 - 선제적 대응 전략 필수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0698480" cy="822960"/>
          </a:xfrm>
          <a:prstGeom prst="roundRect">
            <a:avLst>
              <a:gd name="adj" fmla="val 16667"/>
            </a:avLst>
          </a:prstGeom>
          <a:solidFill>
            <a:srgbClr val="1E1E3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보안과 자율성의 균형이 엔터프라이즈 AI 에이전트 성공의 핵심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10698480" cy="822960"/>
          </a:xfrm>
          <a:prstGeom prst="roundRect">
            <a:avLst>
              <a:gd name="adj" fmla="val 16667"/>
            </a:avLst>
          </a:prstGeom>
          <a:solidFill>
            <a:srgbClr val="1E1E3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26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4572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지금은 "관찰하고 학습"하면서 내부 역량 구축할 시점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120640"/>
            <a:ext cx="10698480" cy="1097280"/>
          </a:xfrm>
          <a:prstGeom prst="roundRect">
            <a:avLst>
              <a:gd name="adj" fmla="val 12500"/>
            </a:avLst>
          </a:prstGeom>
          <a:solidFill>
            <a:srgbClr val="1A2D3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Step: 우리 조직의 AI 에이전트 전략 논의 시작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309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Q&amp;A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6309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OpenClaw.ai, GitHub, CNBC, Palo Alto Networks, Cisco, IBM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Analysis &amp; Insights</dc:title>
  <dc:subject>OpenClaw - The Rise of Open-Source AI Agents</dc:subject>
  <dc:creator>AI Product Leader</dc:creator>
  <cp:lastModifiedBy>AI Product Leader</cp:lastModifiedBy>
  <cp:revision>1</cp:revision>
  <dcterms:created xsi:type="dcterms:W3CDTF">2026-02-03T15:01:16Z</dcterms:created>
  <dcterms:modified xsi:type="dcterms:W3CDTF">2026-02-03T15:01:16Z</dcterms:modified>
</cp:coreProperties>
</file>